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Vingroup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Borrowings / equity (x)</c:v>
                </c:pt>
                <c:pt idx="1">
                  <c:v>Net debt / EBITDA (x)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2.23</c:v>
                </c:pt>
                <c:pt idx="1">
                  <c:v>3.04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Sunshine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Borrowings / equity (x)</c:v>
                </c:pt>
                <c:pt idx="1">
                  <c:v>Net debt / EBITDA (x)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1.19</c:v>
                </c:pt>
                <c:pt idx="1">
                  <c:v>1.57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4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Vingroup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EBITDA / interest (x)</c:v>
                </c:pt>
                <c:pt idx="1">
                  <c:v>Current ratio (x)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2.99</c:v>
                </c:pt>
                <c:pt idx="1">
                  <c:v>1.12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Sunshine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EBITDA / interest (x)</c:v>
                </c:pt>
                <c:pt idx="1">
                  <c:v>Current ratio (x)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18.09</c:v>
                </c:pt>
                <c:pt idx="1">
                  <c:v>1.54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4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400" b="1">
                <a:solidFill>
                  <a:srgbClr val="FFFFFF"/>
                </a:solidFill>
              </a:defRPr>
            </a:pPr>
            <a:r>
              <a:t>Sunshine Group vs Vingroup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0">
                <a:solidFill>
                  <a:srgbClr val="DCE1F0"/>
                </a:solidFill>
              </a:defRPr>
            </a:pPr>
            <a:r>
              <a:t>Credit comparison for a KRW land-secured bond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BEC8DC"/>
                </a:solidFill>
              </a:defRPr>
            </a:pPr>
            <a:r>
              <a:t>Draft for discussion  |  FY2025 audited consolidated statements  |  VND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</a:defRPr>
            </a:pPr>
            <a:r>
              <a:t>Summary: stronger ratios, weaker credibility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222222"/>
                </a:solidFill>
              </a:defRPr>
            </a:pPr>
            <a:r>
              <a:t>•  Sunshine is ~11% of Vingroup by assets, 6% by revenue: it cannot be priced as Vingroup's equal.</a:t>
            </a:r>
          </a:p>
          <a:p>
            <a:pPr>
              <a:spcAft>
                <a:spcPts val="600"/>
              </a:spcAft>
              <a:defRPr sz="1900" b="0">
                <a:solidFill>
                  <a:srgbClr val="222222"/>
                </a:solidFill>
              </a:defRPr>
            </a:pPr>
            <a:r>
              <a:t>•  FY2025 headline ratios favour Sunshine: borrowings/equity 1.2x vs 2.2x; net debt/EBITDA 1.6x vs 3.0x; interest cover 18x vs 3x.</a:t>
            </a:r>
          </a:p>
          <a:p>
            <a:pPr>
              <a:spcAft>
                <a:spcPts val="600"/>
              </a:spcAft>
              <a:defRPr sz="1900" b="0">
                <a:solidFill>
                  <a:srgbClr val="222222"/>
                </a:solidFill>
              </a:defRPr>
            </a:pPr>
            <a:r>
              <a:t>•  But the year is exceptional: assets 6x, revenue 8x, 95% from real-estate handovers, 48% of assets are receivables.</a:t>
            </a:r>
          </a:p>
          <a:p>
            <a:pPr>
              <a:spcAft>
                <a:spcPts val="600"/>
              </a:spcAft>
              <a:defRPr sz="1900" b="0">
                <a:solidFill>
                  <a:srgbClr val="222222"/>
                </a:solidFill>
              </a:defRPr>
            </a:pPr>
            <a:r>
              <a:t>•  Land collateral helps recovery, not earnings quality. Ciputra land must be proven unencumbered.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</a:defRPr>
            </a:pPr>
            <a:r>
              <a:t>Key numbers FY2025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VND bn unless stated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645920"/>
          <a:ext cx="94183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3440"/>
                <a:gridCol w="2377440"/>
                <a:gridCol w="2377440"/>
              </a:tblGrid>
              <a:tr h="36576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Vingroup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Sunshine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Total assets (VND bn)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1,118,623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120,144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Net revenue (VND bn)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331,838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20,198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Profit after tax (VND bn)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11,065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8,906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Net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44.1%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Borrowings (VND bn)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338,501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23,623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Equity (VND bn)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151,489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19,863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Total liabilities / 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6.4x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5.0x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Borrowings / 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2.2x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1.2x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Net debt / 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3.0x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1.6x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EBITDA / interest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3.0x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18.1x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Current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1.12x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1.54x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Asset growth FY25 vs FY24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+484%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</a:defRPr>
            </a:pPr>
            <a:r>
              <a:t>Leverage and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Sunshine looks stronger on every headline measure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737360"/>
          <a:ext cx="56692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309360" y="1737360"/>
          <a:ext cx="548640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</a:defRPr>
            </a:pPr>
            <a:r>
              <a:t>Why the ratios flatter Sunshine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22222"/>
                </a:solidFill>
              </a:defRPr>
            </a:pPr>
            <a:r>
              <a:t>•  Growth step-change: assets VND 20.6tn to 120.1tn, borrowings 0.9tn to 23.6tn in one year; largely consolidation, not organic.</a:t>
            </a:r>
          </a:p>
          <a:p>
            <a:pPr>
              <a:spcAft>
                <a:spcPts val="600"/>
              </a:spcAft>
              <a:defRPr sz="1800" b="0">
                <a:solidFill>
                  <a:srgbClr val="222222"/>
                </a:solidFill>
              </a:defRPr>
            </a:pPr>
            <a:r>
              <a:t>•  Receivables VND 57.7tn (48% of assets): loans 19.9tn, other 23.2tn, supplier advances 13.3tn.</a:t>
            </a:r>
          </a:p>
          <a:p>
            <a:pPr>
              <a:spcAft>
                <a:spcPts val="600"/>
              </a:spcAft>
              <a:defRPr sz="1800" b="0">
                <a:solidFill>
                  <a:srgbClr val="222222"/>
                </a:solidFill>
              </a:defRPr>
            </a:pPr>
            <a:r>
              <a:t>•  Auditor (Deloitte) emphasis: loan and cooperation-contract terms extended (Notes 10-11).</a:t>
            </a:r>
          </a:p>
          <a:p>
            <a:pPr>
              <a:spcAft>
                <a:spcPts val="600"/>
              </a:spcAft>
              <a:defRPr sz="1800" b="0">
                <a:solidFill>
                  <a:srgbClr val="222222"/>
                </a:solidFill>
              </a:defRPr>
            </a:pPr>
            <a:r>
              <a:t>•  Operating cash flow +23.3tn driven by customer deposits (18.6tn); offset by 17.4tn deposits paid for share transfers.</a:t>
            </a:r>
          </a:p>
          <a:p>
            <a:pPr>
              <a:spcAft>
                <a:spcPts val="600"/>
              </a:spcAft>
              <a:defRPr sz="1800" b="0">
                <a:solidFill>
                  <a:srgbClr val="222222"/>
                </a:solidFill>
              </a:defRPr>
            </a:pPr>
            <a:r>
              <a:t>•  Interest cost 664bn on 23.6tn year-end debt (~2.8%): likely understates a full-year run-rate.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</a:defRPr>
            </a:pPr>
            <a:r>
              <a:t>Vingroup profile for benchmarking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222222"/>
                </a:solidFill>
              </a:defRPr>
            </a:pPr>
            <a:r>
              <a:t>•  Revenue VND 331.8tn (+76%); profit after tax VND 11.1tn (+110%), net margin 3.3%.</a:t>
            </a:r>
          </a:p>
          <a:p>
            <a:pPr>
              <a:spcAft>
                <a:spcPts val="600"/>
              </a:spcAft>
              <a:defRPr sz="1900" b="0">
                <a:solidFill>
                  <a:srgbClr val="222222"/>
                </a:solidFill>
              </a:defRPr>
            </a:pPr>
            <a:r>
              <a:t>•  Borrowings VND 338.5tn: 31% bank, 32% domestic bonds, 30% syndicated, 5% exchangeable; ~80% VND or hedged.</a:t>
            </a:r>
          </a:p>
          <a:p>
            <a:pPr>
              <a:spcAft>
                <a:spcPts val="600"/>
              </a:spcAft>
              <a:defRPr sz="1900" b="0">
                <a:solidFill>
                  <a:srgbClr val="222222"/>
                </a:solidFill>
              </a:defRPr>
            </a:pPr>
            <a:r>
              <a:t>•  Multi-market issuer: 2025 domestic bonds via securities firms, a USD 325m exchangeable bond, and the KRW Arirang deal (~KRW 300bn, Shinhan Securities Vietnam arranger, per press).</a:t>
            </a:r>
          </a:p>
          <a:p>
            <a:pPr>
              <a:spcAft>
                <a:spcPts val="600"/>
              </a:spcAft>
              <a:defRPr sz="1900" b="0">
                <a:solidFill>
                  <a:srgbClr val="222222"/>
                </a:solidFill>
              </a:defRPr>
            </a:pPr>
            <a:r>
              <a:t>•  Some 2025 Vingroup bond approvals use company assets as security: confirm whether the Korean bond is truly unsecured.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</a:defRPr>
            </a:pPr>
            <a:r>
              <a:t>Benchmark: Vingroup's Korean bond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From press reports - verify against the KED article / prospectus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589520"/>
              </a:tblGrid>
              <a:tr h="36576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Reported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~KRW 400bn (board approval up to 455bn); Gate.com 3,000-4,000bn is a 10x error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Tenor /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3 years, private placement; first Vietnamese corporate in Korea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Coupon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~7% (Gate.com only, unconfirmed); VIFC: not disclosed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Domestic alternative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above 11% (Vietnam lending rates ~10%)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Underwriters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Shinhan Securities Vietnam, KB, Kiwoom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Not stated in sources found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93776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22222"/>
                </a:solidFill>
              </a:defRPr>
            </a:pPr>
            <a:r>
              <a:t>Implication: ~4 points cheaper than domestic funding is the case for Sunshine. As a smaller, newly scaled credit, it should expect a wider spread than 7% unless collateral and covenants compensate.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</a:defRPr>
            </a:pPr>
            <a:r>
              <a:t>Collateral: the Ciputra 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Illustrative - inputs are placeholders until a valuation exists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737360"/>
          <a:ext cx="58521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377440"/>
              </a:tblGrid>
              <a:tr h="36576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Input /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Bond (KRW 300bn at 18 VND/KRW)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VND 5,400bn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Valuation haircut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30%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Target LTV (on haircut value)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60%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Appraised value needed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~VND 12,900bn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Example: VND 10,000bn 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LTV 77% - fails target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89520" y="173736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22222"/>
                </a:solidFill>
              </a:defRPr>
            </a:pPr>
            <a:r>
              <a:t>Must verify:</a:t>
            </a:r>
          </a:p>
          <a:p>
            <a:pPr>
              <a:spcAft>
                <a:spcPts val="600"/>
              </a:spcAft>
              <a:defRPr sz="1600" b="0">
                <a:solidFill>
                  <a:srgbClr val="222222"/>
                </a:solidFill>
              </a:defRPr>
            </a:pPr>
            <a:r>
              <a:t>• Title and land-use certificates</a:t>
            </a:r>
          </a:p>
          <a:p>
            <a:pPr>
              <a:spcAft>
                <a:spcPts val="600"/>
              </a:spcAft>
              <a:defRPr sz="1600" b="0">
                <a:solidFill>
                  <a:srgbClr val="222222"/>
                </a:solidFill>
              </a:defRPr>
            </a:pPr>
            <a:r>
              <a:t>• Existing pledges: Nam Thang Long project assets are already pledged to a bank</a:t>
            </a:r>
          </a:p>
          <a:p>
            <a:pPr>
              <a:spcAft>
                <a:spcPts val="600"/>
              </a:spcAft>
              <a:defRPr sz="1600" b="0">
                <a:solidFill>
                  <a:srgbClr val="222222"/>
                </a:solidFill>
              </a:defRPr>
            </a:pPr>
            <a:r>
              <a:t>• Enforceability for foreign bondholders (security agent)</a:t>
            </a:r>
          </a:p>
          <a:p>
            <a:pPr>
              <a:spcAft>
                <a:spcPts val="600"/>
              </a:spcAft>
              <a:defRPr sz="1600" b="0">
                <a:solidFill>
                  <a:srgbClr val="222222"/>
                </a:solidFill>
              </a:defRPr>
            </a:pPr>
            <a:r>
              <a:t>• Independent valuation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</a:defRPr>
            </a:pPr>
            <a:r>
              <a:t>Recommended structure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22222"/>
                </a:solidFill>
              </a:defRPr>
            </a:pPr>
            <a:r>
              <a:t>•  Secured bond, security agent, first-ranking pledge over identified Ciputra plots, independent valuation.</a:t>
            </a:r>
          </a:p>
          <a:p>
            <a:pPr>
              <a:spcAft>
                <a:spcPts val="600"/>
              </a:spcAft>
              <a:defRPr sz="1800" b="0">
                <a:solidFill>
                  <a:srgbClr val="222222"/>
                </a:solidFill>
              </a:defRPr>
            </a:pPr>
            <a:r>
              <a:t>•  Covenants: net debt/EBITDA cap, receivables reporting, related-party lending limits, no further pledges, half-year consolidated reporting.</a:t>
            </a:r>
          </a:p>
          <a:p>
            <a:pPr>
              <a:spcAft>
                <a:spcPts val="600"/>
              </a:spcAft>
              <a:defRPr sz="1800" b="0">
                <a:solidFill>
                  <a:srgbClr val="222222"/>
                </a:solidFill>
              </a:defRPr>
            </a:pPr>
            <a:r>
              <a:t>•  Smaller first tranche, 2-3 year tenor; consider subsidiary guarantees.</a:t>
            </a:r>
          </a:p>
          <a:p>
            <a:pPr>
              <a:spcAft>
                <a:spcPts val="600"/>
              </a:spcAft>
              <a:defRPr sz="1800" b="0">
                <a:solidFill>
                  <a:srgbClr val="222222"/>
                </a:solidFill>
              </a:defRPr>
            </a:pPr>
            <a:r>
              <a:t>•  Next: land documents and valuation; read Sunshine notes 10, 11, 13, 19, 27, 28; get the KED/Arirang terms; add peer issuers and rating views.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777777"/>
                </a:solidFill>
              </a:defRPr>
            </a:pPr>
            <a:r>
              <a:t>Sunshine statements read from scanned pages - verify against originals. KED article not accessed. Not investment advice.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